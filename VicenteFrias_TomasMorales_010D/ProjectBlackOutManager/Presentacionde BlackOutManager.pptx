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Poppins"/>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jAGsrH/R6tHGNuL6uBDSvbTpe6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oppins-regular.fntdata"/><Relationship Id="rId16" Type="http://schemas.openxmlformats.org/officeDocument/2006/relationships/slide" Target="slides/slide11.xml"/><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21046ead9_1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g3e21046ead9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
          <p:cNvPicPr preferRelativeResize="0"/>
          <p:nvPr/>
        </p:nvPicPr>
        <p:blipFill rotWithShape="1">
          <a:blip r:embed="rId4">
            <a:alphaModFix/>
          </a:blip>
          <a:srcRect b="0" l="0" r="0" t="0"/>
          <a:stretch/>
        </p:blipFill>
        <p:spPr>
          <a:xfrm>
            <a:off x="2143125" y="3849141"/>
            <a:ext cx="7905750" cy="1022746"/>
          </a:xfrm>
          <a:prstGeom prst="rect">
            <a:avLst/>
          </a:prstGeom>
          <a:noFill/>
          <a:ln>
            <a:noFill/>
          </a:ln>
        </p:spPr>
      </p:pic>
      <p:pic>
        <p:nvPicPr>
          <p:cNvPr descr="image.png" id="86" name="Google Shape;86;p1"/>
          <p:cNvPicPr preferRelativeResize="0"/>
          <p:nvPr/>
        </p:nvPicPr>
        <p:blipFill rotWithShape="1">
          <a:blip r:embed="rId5">
            <a:alphaModFix/>
          </a:blip>
          <a:srcRect b="0" l="0" r="0" t="0"/>
          <a:stretch/>
        </p:blipFill>
        <p:spPr>
          <a:xfrm>
            <a:off x="1571625" y="1243161"/>
            <a:ext cx="9048750" cy="4371677"/>
          </a:xfrm>
          <a:prstGeom prst="rect">
            <a:avLst/>
          </a:prstGeom>
          <a:noFill/>
          <a:ln>
            <a:noFill/>
          </a:ln>
        </p:spPr>
      </p:pic>
      <p:sp>
        <p:nvSpPr>
          <p:cNvPr id="87" name="Google Shape;87;p1"/>
          <p:cNvSpPr txBox="1"/>
          <p:nvPr/>
        </p:nvSpPr>
        <p:spPr>
          <a:xfrm>
            <a:off x="1945481" y="1814661"/>
            <a:ext cx="8301037" cy="11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0"/>
              <a:buFont typeface="Arial"/>
              <a:buNone/>
            </a:pPr>
            <a:r>
              <a:rPr b="1" i="0" lang="en-US" sz="6000" u="none" cap="none" strike="noStrike">
                <a:solidFill>
                  <a:srgbClr val="DEFF9A"/>
                </a:solidFill>
                <a:latin typeface="Poppins"/>
                <a:ea typeface="Poppins"/>
                <a:cs typeface="Poppins"/>
                <a:sym typeface="Poppins"/>
              </a:rPr>
              <a:t>BLACKOUT MANAGER</a:t>
            </a:r>
            <a:endParaRPr b="0" i="0" sz="1400" u="none" cap="none" strike="noStrike">
              <a:solidFill>
                <a:srgbClr val="000000"/>
              </a:solidFill>
              <a:latin typeface="Arial"/>
              <a:ea typeface="Arial"/>
              <a:cs typeface="Arial"/>
              <a:sym typeface="Arial"/>
            </a:endParaRPr>
          </a:p>
        </p:txBody>
      </p:sp>
      <p:sp>
        <p:nvSpPr>
          <p:cNvPr id="88" name="Google Shape;88;p1"/>
          <p:cNvSpPr txBox="1"/>
          <p:nvPr/>
        </p:nvSpPr>
        <p:spPr>
          <a:xfrm>
            <a:off x="2143125" y="3052911"/>
            <a:ext cx="7905750" cy="3199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DEFF9A"/>
                </a:solidFill>
                <a:latin typeface="Lato"/>
                <a:ea typeface="Lato"/>
                <a:cs typeface="Lato"/>
                <a:sym typeface="Lato"/>
              </a:rPr>
              <a:t>Gestión Integral para Artistas y Estudios</a:t>
            </a:r>
            <a:endParaRPr b="0" i="0" sz="1400" u="none" cap="none" strike="noStrike">
              <a:solidFill>
                <a:srgbClr val="000000"/>
              </a:solidFill>
              <a:latin typeface="Arial"/>
              <a:ea typeface="Arial"/>
              <a:cs typeface="Arial"/>
              <a:sym typeface="Arial"/>
            </a:endParaRPr>
          </a:p>
        </p:txBody>
      </p:sp>
      <p:sp>
        <p:nvSpPr>
          <p:cNvPr id="89" name="Google Shape;89;p1"/>
          <p:cNvSpPr txBox="1"/>
          <p:nvPr/>
        </p:nvSpPr>
        <p:spPr>
          <a:xfrm>
            <a:off x="2143125" y="4220616"/>
            <a:ext cx="7905900" cy="207900"/>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Clr>
                <a:srgbClr val="000000"/>
              </a:buClr>
              <a:buSzPts val="1350"/>
              <a:buFont typeface="Arial"/>
              <a:buNone/>
            </a:pPr>
            <a:r>
              <a:rPr b="1" i="0" lang="en-US" sz="1350" u="none" cap="none" strike="noStrike">
                <a:solidFill>
                  <a:srgbClr val="CBD5E1"/>
                </a:solidFill>
                <a:latin typeface="Lato"/>
                <a:ea typeface="Lato"/>
                <a:cs typeface="Lato"/>
                <a:sym typeface="Lato"/>
              </a:rPr>
              <a:t>Asignatura:</a:t>
            </a:r>
            <a:r>
              <a:rPr b="0" i="0" lang="en-US" sz="1350" u="none" cap="none" strike="noStrike">
                <a:solidFill>
                  <a:srgbClr val="CBD5E1"/>
                </a:solidFill>
                <a:latin typeface="Lato"/>
                <a:ea typeface="Lato"/>
                <a:cs typeface="Lato"/>
                <a:sym typeface="Lato"/>
              </a:rPr>
              <a:t> Desarrollo Fullstack l</a:t>
            </a:r>
            <a:endParaRPr b="0" i="0" sz="1400" u="none" cap="none" strike="noStrike">
              <a:solidFill>
                <a:srgbClr val="000000"/>
              </a:solidFill>
              <a:latin typeface="Arial"/>
              <a:ea typeface="Arial"/>
              <a:cs typeface="Arial"/>
              <a:sym typeface="Arial"/>
            </a:endParaRPr>
          </a:p>
        </p:txBody>
      </p:sp>
      <p:sp>
        <p:nvSpPr>
          <p:cNvPr id="90" name="Google Shape;90;p1"/>
          <p:cNvSpPr txBox="1"/>
          <p:nvPr/>
        </p:nvSpPr>
        <p:spPr>
          <a:xfrm>
            <a:off x="2143125" y="4631977"/>
            <a:ext cx="7905900" cy="207900"/>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Clr>
                <a:srgbClr val="000000"/>
              </a:buClr>
              <a:buSzPts val="1350"/>
              <a:buFont typeface="Arial"/>
              <a:buNone/>
            </a:pPr>
            <a:r>
              <a:rPr b="1" i="0" lang="en-US" sz="1350" u="none" cap="none" strike="noStrike">
                <a:solidFill>
                  <a:srgbClr val="CBD5E1"/>
                </a:solidFill>
                <a:latin typeface="Lato"/>
                <a:ea typeface="Lato"/>
                <a:cs typeface="Lato"/>
                <a:sym typeface="Lato"/>
              </a:rPr>
              <a:t>Sección:</a:t>
            </a:r>
            <a:r>
              <a:rPr b="0" i="0" lang="en-US" sz="1350" u="none" cap="none" strike="noStrike">
                <a:solidFill>
                  <a:srgbClr val="CBD5E1"/>
                </a:solidFill>
                <a:latin typeface="Lato"/>
                <a:ea typeface="Lato"/>
                <a:cs typeface="Lato"/>
                <a:sym typeface="Lato"/>
              </a:rPr>
              <a:t> 010D | </a:t>
            </a:r>
            <a:r>
              <a:rPr b="1" i="0" lang="en-US" sz="1350" u="none" cap="none" strike="noStrike">
                <a:solidFill>
                  <a:srgbClr val="CBD5E1"/>
                </a:solidFill>
                <a:latin typeface="Lato"/>
                <a:ea typeface="Lato"/>
                <a:cs typeface="Lato"/>
                <a:sym typeface="Lato"/>
              </a:rPr>
              <a:t>Integrantes:</a:t>
            </a:r>
            <a:r>
              <a:rPr b="0" i="0" lang="en-US" sz="1350" u="none" cap="none" strike="noStrike">
                <a:solidFill>
                  <a:srgbClr val="CBD5E1"/>
                </a:solidFill>
                <a:latin typeface="Lato"/>
                <a:ea typeface="Lato"/>
                <a:cs typeface="Lato"/>
                <a:sym typeface="Lato"/>
              </a:rPr>
              <a:t> Vicente Frias y Tomás Morales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94" name="Shape 94"/>
        <p:cNvGrpSpPr/>
        <p:nvPr/>
      </p:nvGrpSpPr>
      <p:grpSpPr>
        <a:xfrm>
          <a:off x="0" y="0"/>
          <a:ext cx="0" cy="0"/>
          <a:chOff x="0" y="0"/>
          <a:chExt cx="0" cy="0"/>
        </a:xfrm>
      </p:grpSpPr>
      <p:pic>
        <p:nvPicPr>
          <p:cNvPr descr="image.png" id="95" name="Google Shape;95;p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6" name="Google Shape;96;p2"/>
          <p:cNvSpPr/>
          <p:nvPr/>
        </p:nvSpPr>
        <p:spPr>
          <a:xfrm>
            <a:off x="5619750" y="2659409"/>
            <a:ext cx="952500" cy="381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txBox="1"/>
          <p:nvPr/>
        </p:nvSpPr>
        <p:spPr>
          <a:xfrm>
            <a:off x="2670571" y="2773709"/>
            <a:ext cx="6850856" cy="8572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500"/>
              <a:buFont typeface="Arial"/>
              <a:buNone/>
            </a:pPr>
            <a:r>
              <a:rPr b="1" i="0" lang="en-US" sz="4500" u="none" cap="none" strike="noStrike">
                <a:solidFill>
                  <a:srgbClr val="FFFFFF"/>
                </a:solidFill>
                <a:latin typeface="Poppins"/>
                <a:ea typeface="Poppins"/>
                <a:cs typeface="Poppins"/>
                <a:sym typeface="Poppins"/>
              </a:rPr>
              <a:t>Contexto del Proyecto</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2833687" y="3726209"/>
            <a:ext cx="6524625" cy="3199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DEFF9A"/>
                </a:solidFill>
                <a:latin typeface="Lato"/>
                <a:ea typeface="Lato"/>
                <a:cs typeface="Lato"/>
                <a:sym typeface="Lato"/>
              </a:rPr>
              <a:t>Entendiendo las necesidades del cliente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02" name="Shape 102"/>
        <p:cNvGrpSpPr/>
        <p:nvPr/>
      </p:nvGrpSpPr>
      <p:grpSpPr>
        <a:xfrm>
          <a:off x="0" y="0"/>
          <a:ext cx="0" cy="0"/>
          <a:chOff x="0" y="0"/>
          <a:chExt cx="0" cy="0"/>
        </a:xfrm>
      </p:grpSpPr>
      <p:pic>
        <p:nvPicPr>
          <p:cNvPr descr="image.png" id="103" name="Google Shape;103;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4" name="Google Shape;104;p3"/>
          <p:cNvSpPr txBox="1"/>
          <p:nvPr/>
        </p:nvSpPr>
        <p:spPr>
          <a:xfrm>
            <a:off x="904875" y="2697956"/>
            <a:ext cx="5000625"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Clr>
                <a:srgbClr val="000000"/>
              </a:buClr>
              <a:buSzPts val="1350"/>
              <a:buFont typeface="Arial"/>
              <a:buNone/>
            </a:pPr>
            <a:r>
              <a:rPr b="1" i="0" lang="en-US" sz="1350" u="none" cap="none" strike="noStrike">
                <a:solidFill>
                  <a:srgbClr val="CBD5E1"/>
                </a:solidFill>
                <a:latin typeface="Lato"/>
                <a:ea typeface="Lato"/>
                <a:cs typeface="Lato"/>
                <a:sym typeface="Lato"/>
              </a:rPr>
              <a:t>Optimización:</a:t>
            </a:r>
            <a:r>
              <a:rPr b="0" i="0" lang="en-US" sz="1350" u="none" cap="none" strike="noStrike">
                <a:solidFill>
                  <a:srgbClr val="CBD5E1"/>
                </a:solidFill>
                <a:latin typeface="Lato"/>
                <a:ea typeface="Lato"/>
                <a:cs typeface="Lato"/>
                <a:sym typeface="Lato"/>
              </a:rPr>
              <a:t> Reducir la carga administrativa en la gestión de horas.</a:t>
            </a:r>
            <a:endParaRPr b="0" i="0" sz="1400" u="none" cap="none" strike="noStrike">
              <a:solidFill>
                <a:srgbClr val="000000"/>
              </a:solidFill>
              <a:latin typeface="Arial"/>
              <a:ea typeface="Arial"/>
              <a:cs typeface="Arial"/>
              <a:sym typeface="Arial"/>
            </a:endParaRPr>
          </a:p>
        </p:txBody>
      </p:sp>
      <p:sp>
        <p:nvSpPr>
          <p:cNvPr id="105" name="Google Shape;105;p3"/>
          <p:cNvSpPr txBox="1"/>
          <p:nvPr/>
        </p:nvSpPr>
        <p:spPr>
          <a:xfrm>
            <a:off x="904875" y="3320653"/>
            <a:ext cx="5000625"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Clr>
                <a:srgbClr val="000000"/>
              </a:buClr>
              <a:buSzPts val="1350"/>
              <a:buFont typeface="Arial"/>
              <a:buNone/>
            </a:pPr>
            <a:r>
              <a:rPr b="1" i="0" lang="en-US" sz="1350" u="none" cap="none" strike="noStrike">
                <a:solidFill>
                  <a:srgbClr val="CBD5E1"/>
                </a:solidFill>
                <a:latin typeface="Lato"/>
                <a:ea typeface="Lato"/>
                <a:cs typeface="Lato"/>
                <a:sym typeface="Lato"/>
              </a:rPr>
              <a:t>Control Financiero:</a:t>
            </a:r>
            <a:r>
              <a:rPr b="0" i="0" lang="en-US" sz="1350" u="none" cap="none" strike="noStrike">
                <a:solidFill>
                  <a:srgbClr val="CBD5E1"/>
                </a:solidFill>
                <a:latin typeface="Lato"/>
                <a:ea typeface="Lato"/>
                <a:cs typeface="Lato"/>
                <a:sym typeface="Lato"/>
              </a:rPr>
              <a:t> Registro centralizado de ingresos y gastos diarios.</a:t>
            </a:r>
            <a:endParaRPr b="0" i="0" sz="1400" u="none" cap="none" strike="noStrike">
              <a:solidFill>
                <a:srgbClr val="000000"/>
              </a:solidFill>
              <a:latin typeface="Arial"/>
              <a:ea typeface="Arial"/>
              <a:cs typeface="Arial"/>
              <a:sym typeface="Arial"/>
            </a:endParaRPr>
          </a:p>
        </p:txBody>
      </p:sp>
      <p:sp>
        <p:nvSpPr>
          <p:cNvPr id="106" name="Google Shape;106;p3"/>
          <p:cNvSpPr txBox="1"/>
          <p:nvPr/>
        </p:nvSpPr>
        <p:spPr>
          <a:xfrm>
            <a:off x="904875" y="3943350"/>
            <a:ext cx="5000625"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Clr>
                <a:srgbClr val="000000"/>
              </a:buClr>
              <a:buSzPts val="1350"/>
              <a:buFont typeface="Arial"/>
              <a:buNone/>
            </a:pPr>
            <a:r>
              <a:rPr b="1" i="0" lang="en-US" sz="1350" u="none" cap="none" strike="noStrike">
                <a:solidFill>
                  <a:srgbClr val="CBD5E1"/>
                </a:solidFill>
                <a:latin typeface="Lato"/>
                <a:ea typeface="Lato"/>
                <a:cs typeface="Lato"/>
                <a:sym typeface="Lato"/>
              </a:rPr>
              <a:t>Automatización:</a:t>
            </a:r>
            <a:r>
              <a:rPr b="0" i="0" lang="en-US" sz="1350" u="none" cap="none" strike="noStrike">
                <a:solidFill>
                  <a:srgbClr val="CBD5E1"/>
                </a:solidFill>
                <a:latin typeface="Lato"/>
                <a:ea typeface="Lato"/>
                <a:cs typeface="Lato"/>
                <a:sym typeface="Lato"/>
              </a:rPr>
              <a:t> Notificaciones de recordatorio para pacientes y artistas.</a:t>
            </a:r>
            <a:endParaRPr b="0" i="0" sz="1400" u="none" cap="none" strike="noStrike">
              <a:solidFill>
                <a:srgbClr val="000000"/>
              </a:solidFill>
              <a:latin typeface="Arial"/>
              <a:ea typeface="Arial"/>
              <a:cs typeface="Arial"/>
              <a:sym typeface="Arial"/>
            </a:endParaRPr>
          </a:p>
        </p:txBody>
      </p:sp>
      <p:sp>
        <p:nvSpPr>
          <p:cNvPr id="107" name="Google Shape;107;p3"/>
          <p:cNvSpPr txBox="1"/>
          <p:nvPr/>
        </p:nvSpPr>
        <p:spPr>
          <a:xfrm>
            <a:off x="904875" y="4566046"/>
            <a:ext cx="5000625"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Clr>
                <a:srgbClr val="000000"/>
              </a:buClr>
              <a:buSzPts val="1350"/>
              <a:buFont typeface="Arial"/>
              <a:buNone/>
            </a:pPr>
            <a:r>
              <a:rPr b="1" i="0" lang="en-US" sz="1350" u="none" cap="none" strike="noStrike">
                <a:solidFill>
                  <a:srgbClr val="CBD5E1"/>
                </a:solidFill>
                <a:latin typeface="Lato"/>
                <a:ea typeface="Lato"/>
                <a:cs typeface="Lato"/>
                <a:sym typeface="Lato"/>
              </a:rPr>
              <a:t>Citas Online:</a:t>
            </a:r>
            <a:r>
              <a:rPr b="0" i="0" lang="en-US" sz="1350" u="none" cap="none" strike="noStrike">
                <a:solidFill>
                  <a:srgbClr val="CBD5E1"/>
                </a:solidFill>
                <a:latin typeface="Lato"/>
                <a:ea typeface="Lato"/>
                <a:cs typeface="Lato"/>
                <a:sym typeface="Lato"/>
              </a:rPr>
              <a:t> Generación automática de links para reuniones virtuales.</a:t>
            </a:r>
            <a:endParaRPr b="0" i="0" sz="1400" u="none" cap="none" strike="noStrike">
              <a:solidFill>
                <a:srgbClr val="000000"/>
              </a:solidFill>
              <a:latin typeface="Arial"/>
              <a:ea typeface="Arial"/>
              <a:cs typeface="Arial"/>
              <a:sym typeface="Arial"/>
            </a:endParaRPr>
          </a:p>
        </p:txBody>
      </p:sp>
      <p:pic>
        <p:nvPicPr>
          <p:cNvPr descr="image.png" id="108" name="Google Shape;108;p3"/>
          <p:cNvPicPr preferRelativeResize="0"/>
          <p:nvPr/>
        </p:nvPicPr>
        <p:blipFill rotWithShape="1">
          <a:blip r:embed="rId4">
            <a:alphaModFix/>
          </a:blip>
          <a:srcRect b="0" l="0" r="0" t="0"/>
          <a:stretch/>
        </p:blipFill>
        <p:spPr>
          <a:xfrm>
            <a:off x="571500" y="2740818"/>
            <a:ext cx="171450" cy="180975"/>
          </a:xfrm>
          <a:prstGeom prst="rect">
            <a:avLst/>
          </a:prstGeom>
          <a:noFill/>
          <a:ln>
            <a:noFill/>
          </a:ln>
        </p:spPr>
      </p:pic>
      <p:pic>
        <p:nvPicPr>
          <p:cNvPr descr="image.png" id="109" name="Google Shape;109;p3"/>
          <p:cNvPicPr preferRelativeResize="0"/>
          <p:nvPr/>
        </p:nvPicPr>
        <p:blipFill rotWithShape="1">
          <a:blip r:embed="rId4">
            <a:alphaModFix/>
          </a:blip>
          <a:srcRect b="0" l="0" r="0" t="0"/>
          <a:stretch/>
        </p:blipFill>
        <p:spPr>
          <a:xfrm>
            <a:off x="571500" y="3363515"/>
            <a:ext cx="171450" cy="180975"/>
          </a:xfrm>
          <a:prstGeom prst="rect">
            <a:avLst/>
          </a:prstGeom>
          <a:noFill/>
          <a:ln>
            <a:noFill/>
          </a:ln>
        </p:spPr>
      </p:pic>
      <p:pic>
        <p:nvPicPr>
          <p:cNvPr descr="image.png" id="110" name="Google Shape;110;p3"/>
          <p:cNvPicPr preferRelativeResize="0"/>
          <p:nvPr/>
        </p:nvPicPr>
        <p:blipFill rotWithShape="1">
          <a:blip r:embed="rId4">
            <a:alphaModFix/>
          </a:blip>
          <a:srcRect b="0" l="0" r="0" t="0"/>
          <a:stretch/>
        </p:blipFill>
        <p:spPr>
          <a:xfrm>
            <a:off x="571500" y="3986212"/>
            <a:ext cx="171450" cy="180975"/>
          </a:xfrm>
          <a:prstGeom prst="rect">
            <a:avLst/>
          </a:prstGeom>
          <a:noFill/>
          <a:ln>
            <a:noFill/>
          </a:ln>
        </p:spPr>
      </p:pic>
      <p:pic>
        <p:nvPicPr>
          <p:cNvPr descr="image.png" id="111" name="Google Shape;111;p3"/>
          <p:cNvPicPr preferRelativeResize="0"/>
          <p:nvPr/>
        </p:nvPicPr>
        <p:blipFill rotWithShape="1">
          <a:blip r:embed="rId4">
            <a:alphaModFix/>
          </a:blip>
          <a:srcRect b="0" l="0" r="0" t="0"/>
          <a:stretch/>
        </p:blipFill>
        <p:spPr>
          <a:xfrm>
            <a:off x="571500" y="4608909"/>
            <a:ext cx="171450" cy="180975"/>
          </a:xfrm>
          <a:prstGeom prst="rect">
            <a:avLst/>
          </a:prstGeom>
          <a:noFill/>
          <a:ln>
            <a:noFill/>
          </a:ln>
        </p:spPr>
      </p:pic>
      <p:sp>
        <p:nvSpPr>
          <p:cNvPr id="112" name="Google Shape;112;p3"/>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FFFFFF"/>
                </a:solidFill>
                <a:latin typeface="Poppins"/>
                <a:ea typeface="Poppins"/>
                <a:cs typeface="Poppins"/>
                <a:sym typeface="Poppins"/>
              </a:rPr>
              <a:t>Necesidades del Cliente</a:t>
            </a:r>
            <a:endParaRPr b="0" i="0" sz="1400" u="none" cap="none" strike="noStrike">
              <a:solidFill>
                <a:srgbClr val="000000"/>
              </a:solidFill>
              <a:latin typeface="Arial"/>
              <a:ea typeface="Arial"/>
              <a:cs typeface="Arial"/>
              <a:sym typeface="Arial"/>
            </a:endParaRPr>
          </a:p>
        </p:txBody>
      </p:sp>
      <p:sp>
        <p:nvSpPr>
          <p:cNvPr id="113" name="Google Shape;113;p3"/>
          <p:cNvSpPr/>
          <p:nvPr/>
        </p:nvSpPr>
        <p:spPr>
          <a:xfrm>
            <a:off x="571500" y="571500"/>
            <a:ext cx="57150" cy="6000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4" name="Google Shape;114;p3"/>
          <p:cNvPicPr preferRelativeResize="0"/>
          <p:nvPr/>
        </p:nvPicPr>
        <p:blipFill>
          <a:blip r:embed="rId5">
            <a:alphaModFix/>
          </a:blip>
          <a:stretch>
            <a:fillRect/>
          </a:stretch>
        </p:blipFill>
        <p:spPr>
          <a:xfrm>
            <a:off x="6236050" y="1782000"/>
            <a:ext cx="5607101" cy="4253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18" name="Shape 118"/>
        <p:cNvGrpSpPr/>
        <p:nvPr/>
      </p:nvGrpSpPr>
      <p:grpSpPr>
        <a:xfrm>
          <a:off x="0" y="0"/>
          <a:ext cx="0" cy="0"/>
          <a:chOff x="0" y="0"/>
          <a:chExt cx="0" cy="0"/>
        </a:xfrm>
      </p:grpSpPr>
      <p:pic>
        <p:nvPicPr>
          <p:cNvPr descr="image.png" id="119" name="Google Shape;119;p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0" name="Google Shape;120;p4"/>
          <p:cNvSpPr txBox="1"/>
          <p:nvPr/>
        </p:nvSpPr>
        <p:spPr>
          <a:xfrm>
            <a:off x="3515677" y="2154584"/>
            <a:ext cx="5160645" cy="8572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500"/>
              <a:buFont typeface="Arial"/>
              <a:buNone/>
            </a:pPr>
            <a:r>
              <a:rPr b="1" i="0" lang="en-US" sz="4500" u="none" cap="none" strike="noStrike">
                <a:solidFill>
                  <a:srgbClr val="FFFFFF"/>
                </a:solidFill>
                <a:latin typeface="Poppins"/>
                <a:ea typeface="Poppins"/>
                <a:cs typeface="Poppins"/>
                <a:sym typeface="Poppins"/>
              </a:rPr>
              <a:t>Modelo de Datos</a:t>
            </a:r>
            <a:endParaRPr b="0" i="0" sz="1400" u="none" cap="none" strike="noStrike">
              <a:solidFill>
                <a:srgbClr val="000000"/>
              </a:solidFill>
              <a:latin typeface="Arial"/>
              <a:ea typeface="Arial"/>
              <a:cs typeface="Arial"/>
              <a:sym typeface="Arial"/>
            </a:endParaRPr>
          </a:p>
        </p:txBody>
      </p:sp>
      <p:sp>
        <p:nvSpPr>
          <p:cNvPr id="121" name="Google Shape;121;p4"/>
          <p:cNvSpPr txBox="1"/>
          <p:nvPr/>
        </p:nvSpPr>
        <p:spPr>
          <a:xfrm>
            <a:off x="3638550" y="3107084"/>
            <a:ext cx="4914900" cy="3199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DEFF9A"/>
                </a:solidFill>
                <a:latin typeface="Lato"/>
                <a:ea typeface="Lato"/>
                <a:cs typeface="Lato"/>
                <a:sym typeface="Lato"/>
              </a:rPr>
              <a:t>Estructura Relacional por Microservicio</a:t>
            </a:r>
            <a:endParaRPr b="0" i="0" sz="1400" u="none" cap="none" strike="noStrike">
              <a:solidFill>
                <a:srgbClr val="000000"/>
              </a:solidFill>
              <a:latin typeface="Arial"/>
              <a:ea typeface="Arial"/>
              <a:cs typeface="Arial"/>
              <a:sym typeface="Arial"/>
            </a:endParaRPr>
          </a:p>
        </p:txBody>
      </p:sp>
      <p:pic>
        <p:nvPicPr>
          <p:cNvPr descr="image.png" id="122" name="Google Shape;122;p4"/>
          <p:cNvPicPr preferRelativeResize="0"/>
          <p:nvPr/>
        </p:nvPicPr>
        <p:blipFill rotWithShape="1">
          <a:blip r:embed="rId4">
            <a:alphaModFix/>
          </a:blip>
          <a:srcRect b="0" l="0" r="0" t="0"/>
          <a:stretch/>
        </p:blipFill>
        <p:spPr>
          <a:xfrm>
            <a:off x="5762625" y="3941415"/>
            <a:ext cx="666750" cy="762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26" name="Shape 126"/>
        <p:cNvGrpSpPr/>
        <p:nvPr/>
      </p:nvGrpSpPr>
      <p:grpSpPr>
        <a:xfrm>
          <a:off x="0" y="0"/>
          <a:ext cx="0" cy="0"/>
          <a:chOff x="0" y="0"/>
          <a:chExt cx="0" cy="0"/>
        </a:xfrm>
      </p:grpSpPr>
      <p:pic>
        <p:nvPicPr>
          <p:cNvPr descr="image.png" id="127" name="Google Shape;127;p5"/>
          <p:cNvPicPr preferRelativeResize="0"/>
          <p:nvPr/>
        </p:nvPicPr>
        <p:blipFill rotWithShape="1">
          <a:blip r:embed="rId3">
            <a:alphaModFix/>
          </a:blip>
          <a:srcRect b="2210" l="0" r="0" t="-2210"/>
          <a:stretch/>
        </p:blipFill>
        <p:spPr>
          <a:xfrm>
            <a:off x="-28500" y="0"/>
            <a:ext cx="12192000" cy="6858000"/>
          </a:xfrm>
          <a:prstGeom prst="rect">
            <a:avLst/>
          </a:prstGeom>
          <a:noFill/>
          <a:ln>
            <a:noFill/>
          </a:ln>
        </p:spPr>
      </p:pic>
      <p:sp>
        <p:nvSpPr>
          <p:cNvPr id="128" name="Google Shape;128;p5"/>
          <p:cNvSpPr txBox="1"/>
          <p:nvPr/>
        </p:nvSpPr>
        <p:spPr>
          <a:xfrm>
            <a:off x="762000" y="571500"/>
            <a:ext cx="11401500" cy="4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FFFFFF"/>
                </a:solidFill>
                <a:latin typeface="Poppins"/>
                <a:ea typeface="Poppins"/>
                <a:cs typeface="Poppins"/>
                <a:sym typeface="Poppins"/>
              </a:rPr>
              <a:t>MER TABLAS BLACKOUT</a:t>
            </a:r>
            <a:endParaRPr b="0" i="0" sz="1400" u="none" cap="none" strike="noStrike">
              <a:solidFill>
                <a:srgbClr val="000000"/>
              </a:solidFill>
              <a:latin typeface="Arial"/>
              <a:ea typeface="Arial"/>
              <a:cs typeface="Arial"/>
              <a:sym typeface="Arial"/>
            </a:endParaRPr>
          </a:p>
        </p:txBody>
      </p:sp>
      <p:sp>
        <p:nvSpPr>
          <p:cNvPr id="129" name="Google Shape;129;p5"/>
          <p:cNvSpPr/>
          <p:nvPr/>
        </p:nvSpPr>
        <p:spPr>
          <a:xfrm>
            <a:off x="571500" y="571500"/>
            <a:ext cx="57300" cy="6000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130" name="Google Shape;130;p5"/>
          <p:cNvPicPr preferRelativeResize="0"/>
          <p:nvPr/>
        </p:nvPicPr>
        <p:blipFill rotWithShape="1">
          <a:blip r:embed="rId4">
            <a:alphaModFix/>
          </a:blip>
          <a:srcRect b="0" l="0" r="0" t="0"/>
          <a:stretch/>
        </p:blipFill>
        <p:spPr>
          <a:xfrm>
            <a:off x="292500" y="2108550"/>
            <a:ext cx="3345749" cy="3811200"/>
          </a:xfrm>
          <a:prstGeom prst="rect">
            <a:avLst/>
          </a:prstGeom>
          <a:noFill/>
          <a:ln>
            <a:noFill/>
          </a:ln>
        </p:spPr>
      </p:pic>
      <p:sp>
        <p:nvSpPr>
          <p:cNvPr id="131" name="Google Shape;131;p5"/>
          <p:cNvSpPr txBox="1"/>
          <p:nvPr/>
        </p:nvSpPr>
        <p:spPr>
          <a:xfrm>
            <a:off x="405525" y="2250300"/>
            <a:ext cx="3036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B82F6"/>
                </a:solidFill>
                <a:latin typeface="Poppins"/>
                <a:ea typeface="Poppins"/>
                <a:cs typeface="Poppins"/>
                <a:sym typeface="Poppins"/>
              </a:rPr>
              <a:t>Introduccion</a:t>
            </a:r>
            <a:endParaRPr b="0" i="0" sz="1400" u="none" cap="none" strike="noStrike">
              <a:solidFill>
                <a:srgbClr val="000000"/>
              </a:solidFill>
              <a:latin typeface="Arial"/>
              <a:ea typeface="Arial"/>
              <a:cs typeface="Arial"/>
              <a:sym typeface="Arial"/>
            </a:endParaRPr>
          </a:p>
        </p:txBody>
      </p:sp>
      <p:sp>
        <p:nvSpPr>
          <p:cNvPr id="132" name="Google Shape;132;p5"/>
          <p:cNvSpPr txBox="1"/>
          <p:nvPr/>
        </p:nvSpPr>
        <p:spPr>
          <a:xfrm>
            <a:off x="429975" y="2682075"/>
            <a:ext cx="3070800" cy="27753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El </a:t>
            </a:r>
            <a:r>
              <a:rPr b="1" i="0" lang="en-US" sz="1100" u="none" cap="none" strike="noStrike">
                <a:solidFill>
                  <a:schemeClr val="lt1"/>
                </a:solidFill>
                <a:latin typeface="Arial"/>
                <a:ea typeface="Arial"/>
                <a:cs typeface="Arial"/>
                <a:sym typeface="Arial"/>
              </a:rPr>
              <a:t>Modelado Relacional</a:t>
            </a:r>
            <a:r>
              <a:rPr b="0" i="0" lang="en-US" sz="1100" u="none" cap="none" strike="noStrike">
                <a:solidFill>
                  <a:schemeClr val="lt1"/>
                </a:solidFill>
                <a:latin typeface="Arial"/>
                <a:ea typeface="Arial"/>
                <a:cs typeface="Arial"/>
                <a:sym typeface="Arial"/>
              </a:rPr>
              <a:t> de la base de datos, el cual constituye el núcleo de integridad de </a:t>
            </a:r>
            <a:r>
              <a:rPr b="1" i="0" lang="en-US" sz="1100" u="none" cap="none" strike="noStrike">
                <a:solidFill>
                  <a:schemeClr val="lt1"/>
                </a:solidFill>
                <a:latin typeface="Arial"/>
                <a:ea typeface="Arial"/>
                <a:cs typeface="Arial"/>
                <a:sym typeface="Arial"/>
              </a:rPr>
              <a:t>BlackOut Manager</a:t>
            </a:r>
            <a:r>
              <a:rPr b="0" i="0" lang="en-US" sz="1100" u="none" cap="none" strike="noStrike">
                <a:solidFill>
                  <a:schemeClr val="lt1"/>
                </a:solidFill>
                <a:latin typeface="Arial"/>
                <a:ea typeface="Arial"/>
                <a:cs typeface="Arial"/>
                <a:sym typeface="Arial"/>
              </a:rPr>
              <a:t>. Hemos diseñado una estructura de 11 tablas interconectadas que permiten normalizar toda la operación del estudio: desde la gestión de perfiles de usuarios y el control detallado de sesiones de tatuaje, hasta el seguimiento de inventario y la contabilidad financiera. Este modelo asegura que cada dato, ya sea un insumo utilizado o un ingreso percibido, tenga una trazabilidad absoluta dentro del flujo de trabajo del artista </a:t>
            </a:r>
            <a:endParaRPr b="0" i="0" sz="1400" u="none" cap="none" strike="noStrike">
              <a:solidFill>
                <a:schemeClr val="lt1"/>
              </a:solidFill>
              <a:latin typeface="Arial"/>
              <a:ea typeface="Arial"/>
              <a:cs typeface="Arial"/>
              <a:sym typeface="Arial"/>
            </a:endParaRPr>
          </a:p>
        </p:txBody>
      </p:sp>
      <p:pic>
        <p:nvPicPr>
          <p:cNvPr id="133" name="Google Shape;133;p5"/>
          <p:cNvPicPr preferRelativeResize="0"/>
          <p:nvPr/>
        </p:nvPicPr>
        <p:blipFill rotWithShape="1">
          <a:blip r:embed="rId5">
            <a:alphaModFix/>
          </a:blip>
          <a:srcRect b="0" l="0" r="0" t="0"/>
          <a:stretch/>
        </p:blipFill>
        <p:spPr>
          <a:xfrm>
            <a:off x="4981625" y="1705650"/>
            <a:ext cx="6573476" cy="4617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37" name="Shape 137"/>
        <p:cNvGrpSpPr/>
        <p:nvPr/>
      </p:nvGrpSpPr>
      <p:grpSpPr>
        <a:xfrm>
          <a:off x="0" y="0"/>
          <a:ext cx="0" cy="0"/>
          <a:chOff x="0" y="0"/>
          <a:chExt cx="0" cy="0"/>
        </a:xfrm>
      </p:grpSpPr>
      <p:pic>
        <p:nvPicPr>
          <p:cNvPr descr="image.png" id="138" name="Google Shape;138;p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9" name="Google Shape;139;p6"/>
          <p:cNvPicPr preferRelativeResize="0"/>
          <p:nvPr/>
        </p:nvPicPr>
        <p:blipFill rotWithShape="1">
          <a:blip r:embed="rId4">
            <a:alphaModFix/>
          </a:blip>
          <a:srcRect b="0" l="0" r="0" t="0"/>
          <a:stretch/>
        </p:blipFill>
        <p:spPr>
          <a:xfrm>
            <a:off x="292500" y="2108550"/>
            <a:ext cx="3345749" cy="3811200"/>
          </a:xfrm>
          <a:prstGeom prst="rect">
            <a:avLst/>
          </a:prstGeom>
          <a:noFill/>
          <a:ln>
            <a:noFill/>
          </a:ln>
        </p:spPr>
      </p:pic>
      <p:sp>
        <p:nvSpPr>
          <p:cNvPr id="140" name="Google Shape;140;p6"/>
          <p:cNvSpPr txBox="1"/>
          <p:nvPr/>
        </p:nvSpPr>
        <p:spPr>
          <a:xfrm>
            <a:off x="405525" y="2250300"/>
            <a:ext cx="2989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B82F6"/>
                </a:solidFill>
                <a:latin typeface="Poppins"/>
                <a:ea typeface="Poppins"/>
                <a:cs typeface="Poppins"/>
                <a:sym typeface="Poppins"/>
              </a:rPr>
              <a:t>Introduccion</a:t>
            </a:r>
            <a:endParaRPr b="0" i="0" sz="1400" u="none" cap="none" strike="noStrike">
              <a:solidFill>
                <a:srgbClr val="000000"/>
              </a:solidFill>
              <a:latin typeface="Arial"/>
              <a:ea typeface="Arial"/>
              <a:cs typeface="Arial"/>
              <a:sym typeface="Arial"/>
            </a:endParaRPr>
          </a:p>
        </p:txBody>
      </p:sp>
      <p:sp>
        <p:nvSpPr>
          <p:cNvPr id="141" name="Google Shape;141;p6"/>
          <p:cNvSpPr txBox="1"/>
          <p:nvPr/>
        </p:nvSpPr>
        <p:spPr>
          <a:xfrm>
            <a:off x="429975" y="2682075"/>
            <a:ext cx="3070800" cy="30120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chemeClr val="dk1"/>
              </a:buClr>
              <a:buSzPts val="1100"/>
              <a:buFont typeface="Arial"/>
              <a:buNone/>
            </a:pPr>
            <a:r>
              <a:rPr b="0" i="0" lang="en-US" sz="1100" u="none" cap="none" strike="noStrike">
                <a:solidFill>
                  <a:schemeClr val="lt1"/>
                </a:solidFill>
                <a:latin typeface="Arial"/>
                <a:ea typeface="Arial"/>
                <a:cs typeface="Arial"/>
                <a:sym typeface="Arial"/>
              </a:rPr>
              <a:t>Para dar soporte técnico a este modelo, hemos optado por una </a:t>
            </a:r>
            <a:r>
              <a:rPr b="1" i="0" lang="en-US" sz="1100" u="none" cap="none" strike="noStrike">
                <a:solidFill>
                  <a:schemeClr val="lt1"/>
                </a:solidFill>
                <a:latin typeface="Arial"/>
                <a:ea typeface="Arial"/>
                <a:cs typeface="Arial"/>
                <a:sym typeface="Arial"/>
              </a:rPr>
              <a:t>Arquitectura de Microservicios</a:t>
            </a:r>
            <a:r>
              <a:rPr b="0" i="0" lang="en-US" sz="1100" u="none" cap="none" strike="noStrike">
                <a:solidFill>
                  <a:schemeClr val="lt1"/>
                </a:solidFill>
                <a:latin typeface="Arial"/>
                <a:ea typeface="Arial"/>
                <a:cs typeface="Arial"/>
                <a:sym typeface="Arial"/>
              </a:rPr>
              <a:t> basada en el desacoplamiento y la alta disponibilidad. El sistema se fragmenta en 5 servicios independientes: </a:t>
            </a:r>
            <a:r>
              <a:rPr b="1" i="0" lang="en-US" sz="1100" u="none" cap="none" strike="noStrike">
                <a:solidFill>
                  <a:schemeClr val="lt1"/>
                </a:solidFill>
                <a:latin typeface="Arial"/>
                <a:ea typeface="Arial"/>
                <a:cs typeface="Arial"/>
                <a:sym typeface="Arial"/>
              </a:rPr>
              <a:t>Usuario, Cita, Agenda, Productos y Cartera</a:t>
            </a:r>
            <a:r>
              <a:rPr b="0" i="0" lang="en-US" sz="1100" u="none" cap="none" strike="noStrike">
                <a:solidFill>
                  <a:schemeClr val="lt1"/>
                </a:solidFill>
                <a:latin typeface="Arial"/>
                <a:ea typeface="Arial"/>
                <a:cs typeface="Arial"/>
                <a:sym typeface="Arial"/>
              </a:rPr>
              <a:t>, donde cada uno gestiona su propia persistencia de datos. Esta estructura no solo facilita el mantenimiento individual de cada módulo, sino que permite que la comunicación entre servicios se realice de forma eficiente, garantizando que el sistema sea escalable y capaz de evolucionar según las necesidades tecnológicas del proyecto. </a:t>
            </a:r>
            <a:endParaRPr b="0" i="0" sz="1400" u="none" cap="none" strike="noStrike">
              <a:solidFill>
                <a:schemeClr val="lt1"/>
              </a:solidFill>
              <a:latin typeface="Arial"/>
              <a:ea typeface="Arial"/>
              <a:cs typeface="Arial"/>
              <a:sym typeface="Arial"/>
            </a:endParaRPr>
          </a:p>
        </p:txBody>
      </p:sp>
      <p:sp>
        <p:nvSpPr>
          <p:cNvPr id="142" name="Google Shape;142;p6"/>
          <p:cNvSpPr txBox="1"/>
          <p:nvPr/>
        </p:nvSpPr>
        <p:spPr>
          <a:xfrm>
            <a:off x="762000" y="571500"/>
            <a:ext cx="11401500" cy="4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FFFFFF"/>
                </a:solidFill>
                <a:latin typeface="Poppins"/>
                <a:ea typeface="Poppins"/>
                <a:cs typeface="Poppins"/>
                <a:sym typeface="Poppins"/>
              </a:rPr>
              <a:t>ESTRUCTURA MICROSERVICIOS</a:t>
            </a:r>
            <a:endParaRPr b="0" i="0" sz="1400" u="none" cap="none" strike="noStrike">
              <a:solidFill>
                <a:srgbClr val="000000"/>
              </a:solidFill>
              <a:latin typeface="Arial"/>
              <a:ea typeface="Arial"/>
              <a:cs typeface="Arial"/>
              <a:sym typeface="Arial"/>
            </a:endParaRPr>
          </a:p>
        </p:txBody>
      </p:sp>
      <p:sp>
        <p:nvSpPr>
          <p:cNvPr id="143" name="Google Shape;143;p6"/>
          <p:cNvSpPr/>
          <p:nvPr/>
        </p:nvSpPr>
        <p:spPr>
          <a:xfrm>
            <a:off x="571500" y="571500"/>
            <a:ext cx="57300" cy="6000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44" name="Google Shape;144;p6"/>
          <p:cNvPicPr preferRelativeResize="0"/>
          <p:nvPr/>
        </p:nvPicPr>
        <p:blipFill rotWithShape="1">
          <a:blip r:embed="rId5">
            <a:alphaModFix/>
          </a:blip>
          <a:srcRect b="0" l="0" r="0" t="0"/>
          <a:stretch/>
        </p:blipFill>
        <p:spPr>
          <a:xfrm>
            <a:off x="4198500" y="1590050"/>
            <a:ext cx="7816501" cy="47212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48" name="Shape 148"/>
        <p:cNvGrpSpPr/>
        <p:nvPr/>
      </p:nvGrpSpPr>
      <p:grpSpPr>
        <a:xfrm>
          <a:off x="0" y="0"/>
          <a:ext cx="0" cy="0"/>
          <a:chOff x="0" y="0"/>
          <a:chExt cx="0" cy="0"/>
        </a:xfrm>
      </p:grpSpPr>
      <p:pic>
        <p:nvPicPr>
          <p:cNvPr descr="image.png" id="149" name="Google Shape;149;p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0" name="Google Shape;150;p7"/>
          <p:cNvSpPr txBox="1"/>
          <p:nvPr/>
        </p:nvSpPr>
        <p:spPr>
          <a:xfrm>
            <a:off x="2810589" y="2678459"/>
            <a:ext cx="6570821" cy="8572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500"/>
              <a:buFont typeface="Arial"/>
              <a:buNone/>
            </a:pPr>
            <a:r>
              <a:rPr b="1" i="0" lang="en-US" sz="4500" u="none" cap="none" strike="noStrike">
                <a:solidFill>
                  <a:srgbClr val="FFFFFF"/>
                </a:solidFill>
                <a:latin typeface="Poppins"/>
                <a:ea typeface="Poppins"/>
                <a:cs typeface="Poppins"/>
                <a:sym typeface="Poppins"/>
              </a:rPr>
              <a:t>Arquitectura Técnica</a:t>
            </a:r>
            <a:endParaRPr b="0" i="0" sz="1400" u="none" cap="none" strike="noStrike">
              <a:solidFill>
                <a:srgbClr val="000000"/>
              </a:solidFill>
              <a:latin typeface="Arial"/>
              <a:ea typeface="Arial"/>
              <a:cs typeface="Arial"/>
              <a:sym typeface="Arial"/>
            </a:endParaRPr>
          </a:p>
        </p:txBody>
      </p:sp>
      <p:sp>
        <p:nvSpPr>
          <p:cNvPr id="151" name="Google Shape;151;p7"/>
          <p:cNvSpPr txBox="1"/>
          <p:nvPr/>
        </p:nvSpPr>
        <p:spPr>
          <a:xfrm>
            <a:off x="2967037" y="3630959"/>
            <a:ext cx="6257925" cy="3199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DEFF9A"/>
                </a:solidFill>
                <a:latin typeface="Lato"/>
                <a:ea typeface="Lato"/>
                <a:cs typeface="Lato"/>
                <a:sym typeface="Lato"/>
              </a:rPr>
              <a:t>Desacoplamiento y Escalabilidad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55" name="Shape 155"/>
        <p:cNvGrpSpPr/>
        <p:nvPr/>
      </p:nvGrpSpPr>
      <p:grpSpPr>
        <a:xfrm>
          <a:off x="0" y="0"/>
          <a:ext cx="0" cy="0"/>
          <a:chOff x="0" y="0"/>
          <a:chExt cx="0" cy="0"/>
        </a:xfrm>
      </p:grpSpPr>
      <p:pic>
        <p:nvPicPr>
          <p:cNvPr descr="image.png" id="156" name="Google Shape;156;p8"/>
          <p:cNvPicPr preferRelativeResize="0"/>
          <p:nvPr/>
        </p:nvPicPr>
        <p:blipFill rotWithShape="1">
          <a:blip r:embed="rId3">
            <a:alphaModFix/>
          </a:blip>
          <a:srcRect b="0" l="0" r="0" t="0"/>
          <a:stretch/>
        </p:blipFill>
        <p:spPr>
          <a:xfrm>
            <a:off x="0" y="-67500"/>
            <a:ext cx="12192000" cy="6858000"/>
          </a:xfrm>
          <a:prstGeom prst="rect">
            <a:avLst/>
          </a:prstGeom>
          <a:noFill/>
          <a:ln>
            <a:noFill/>
          </a:ln>
        </p:spPr>
      </p:pic>
      <p:pic>
        <p:nvPicPr>
          <p:cNvPr descr="image.png" id="157" name="Google Shape;157;p8"/>
          <p:cNvPicPr preferRelativeResize="0"/>
          <p:nvPr/>
        </p:nvPicPr>
        <p:blipFill rotWithShape="1">
          <a:blip r:embed="rId4">
            <a:alphaModFix/>
          </a:blip>
          <a:srcRect b="0" l="0" r="0" t="0"/>
          <a:stretch/>
        </p:blipFill>
        <p:spPr>
          <a:xfrm>
            <a:off x="422925" y="1758179"/>
            <a:ext cx="3524250" cy="1655266"/>
          </a:xfrm>
          <a:prstGeom prst="rect">
            <a:avLst/>
          </a:prstGeom>
          <a:noFill/>
          <a:ln>
            <a:noFill/>
          </a:ln>
        </p:spPr>
      </p:pic>
      <p:pic>
        <p:nvPicPr>
          <p:cNvPr descr="image.png" id="158" name="Google Shape;158;p8"/>
          <p:cNvPicPr preferRelativeResize="0"/>
          <p:nvPr/>
        </p:nvPicPr>
        <p:blipFill rotWithShape="1">
          <a:blip r:embed="rId4">
            <a:alphaModFix/>
          </a:blip>
          <a:srcRect b="0" l="0" r="0" t="0"/>
          <a:stretch/>
        </p:blipFill>
        <p:spPr>
          <a:xfrm>
            <a:off x="4259575" y="1773729"/>
            <a:ext cx="3524250" cy="1655266"/>
          </a:xfrm>
          <a:prstGeom prst="rect">
            <a:avLst/>
          </a:prstGeom>
          <a:noFill/>
          <a:ln>
            <a:noFill/>
          </a:ln>
        </p:spPr>
      </p:pic>
      <p:pic>
        <p:nvPicPr>
          <p:cNvPr descr="image.png" id="159" name="Google Shape;159;p8"/>
          <p:cNvPicPr preferRelativeResize="0"/>
          <p:nvPr/>
        </p:nvPicPr>
        <p:blipFill rotWithShape="1">
          <a:blip r:embed="rId4">
            <a:alphaModFix/>
          </a:blip>
          <a:srcRect b="0" l="0" r="0" t="0"/>
          <a:stretch/>
        </p:blipFill>
        <p:spPr>
          <a:xfrm>
            <a:off x="8096225" y="1773729"/>
            <a:ext cx="3524250" cy="1655266"/>
          </a:xfrm>
          <a:prstGeom prst="rect">
            <a:avLst/>
          </a:prstGeom>
          <a:noFill/>
          <a:ln>
            <a:noFill/>
          </a:ln>
        </p:spPr>
      </p:pic>
      <p:sp>
        <p:nvSpPr>
          <p:cNvPr id="160" name="Google Shape;160;p8"/>
          <p:cNvSpPr txBox="1"/>
          <p:nvPr/>
        </p:nvSpPr>
        <p:spPr>
          <a:xfrm>
            <a:off x="571500" y="1862554"/>
            <a:ext cx="308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3B82F6"/>
                </a:solidFill>
                <a:latin typeface="Poppins"/>
                <a:ea typeface="Poppins"/>
                <a:cs typeface="Poppins"/>
                <a:sym typeface="Poppins"/>
              </a:rPr>
              <a:t>Spring Data JPA </a:t>
            </a:r>
            <a:endParaRPr b="0" i="0" sz="1400" u="none" cap="none" strike="noStrike">
              <a:solidFill>
                <a:srgbClr val="000000"/>
              </a:solidFill>
              <a:latin typeface="Arial"/>
              <a:ea typeface="Arial"/>
              <a:cs typeface="Arial"/>
              <a:sym typeface="Arial"/>
            </a:endParaRPr>
          </a:p>
        </p:txBody>
      </p:sp>
      <p:sp>
        <p:nvSpPr>
          <p:cNvPr id="161" name="Google Shape;161;p8"/>
          <p:cNvSpPr txBox="1"/>
          <p:nvPr/>
        </p:nvSpPr>
        <p:spPr>
          <a:xfrm>
            <a:off x="451500" y="2245700"/>
            <a:ext cx="3467100" cy="9600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lang="en-US" sz="1200">
                <a:solidFill>
                  <a:srgbClr val="CBD5E1"/>
                </a:solidFill>
                <a:latin typeface="Lato"/>
                <a:ea typeface="Lato"/>
                <a:cs typeface="Lato"/>
                <a:sym typeface="Lato"/>
              </a:rPr>
              <a:t>Facilita la interacción con la base de datos mediante el mapeo objeto-relacional (ORM), permitiéndonos gestionar las 11 tablas del MER de forma eficiente sin escribir SQL complejo. </a:t>
            </a:r>
            <a:endParaRPr b="0" i="0" sz="1400" u="none" cap="none" strike="noStrike">
              <a:solidFill>
                <a:srgbClr val="000000"/>
              </a:solidFill>
              <a:latin typeface="Arial"/>
              <a:ea typeface="Arial"/>
              <a:cs typeface="Arial"/>
              <a:sym typeface="Arial"/>
            </a:endParaRPr>
          </a:p>
        </p:txBody>
      </p:sp>
      <p:sp>
        <p:nvSpPr>
          <p:cNvPr id="162" name="Google Shape;162;p8"/>
          <p:cNvSpPr txBox="1"/>
          <p:nvPr/>
        </p:nvSpPr>
        <p:spPr>
          <a:xfrm>
            <a:off x="4481500" y="1862554"/>
            <a:ext cx="308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3B82F6"/>
                </a:solidFill>
                <a:latin typeface="Poppins"/>
                <a:ea typeface="Poppins"/>
                <a:cs typeface="Poppins"/>
                <a:sym typeface="Poppins"/>
              </a:rPr>
              <a:t>MySQL Driver </a:t>
            </a:r>
            <a:endParaRPr b="0" i="0" sz="1400" u="none" cap="none" strike="noStrike">
              <a:solidFill>
                <a:srgbClr val="000000"/>
              </a:solidFill>
              <a:latin typeface="Arial"/>
              <a:ea typeface="Arial"/>
              <a:cs typeface="Arial"/>
              <a:sym typeface="Arial"/>
            </a:endParaRPr>
          </a:p>
        </p:txBody>
      </p:sp>
      <p:sp>
        <p:nvSpPr>
          <p:cNvPr id="163" name="Google Shape;163;p8"/>
          <p:cNvSpPr txBox="1"/>
          <p:nvPr/>
        </p:nvSpPr>
        <p:spPr>
          <a:xfrm>
            <a:off x="4481500" y="2139754"/>
            <a:ext cx="2933700" cy="7017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lang="en-US" sz="1200">
                <a:solidFill>
                  <a:srgbClr val="CBD5E1"/>
                </a:solidFill>
                <a:latin typeface="Lato"/>
                <a:ea typeface="Lato"/>
                <a:cs typeface="Lato"/>
                <a:sym typeface="Lato"/>
              </a:rPr>
              <a:t>Permite la conexión física y la comunicación entre nuestra aplicación Java y el motor de base de datos MySQL </a:t>
            </a:r>
            <a:endParaRPr b="0" i="0" sz="1400" u="none" cap="none" strike="noStrike">
              <a:solidFill>
                <a:srgbClr val="000000"/>
              </a:solidFill>
              <a:latin typeface="Arial"/>
              <a:ea typeface="Arial"/>
              <a:cs typeface="Arial"/>
              <a:sym typeface="Arial"/>
            </a:endParaRPr>
          </a:p>
        </p:txBody>
      </p:sp>
      <p:sp>
        <p:nvSpPr>
          <p:cNvPr id="164" name="Google Shape;164;p8"/>
          <p:cNvSpPr txBox="1"/>
          <p:nvPr/>
        </p:nvSpPr>
        <p:spPr>
          <a:xfrm>
            <a:off x="8318150" y="1862554"/>
            <a:ext cx="308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3B82F6"/>
                </a:solidFill>
                <a:latin typeface="Poppins"/>
                <a:ea typeface="Poppins"/>
                <a:cs typeface="Poppins"/>
                <a:sym typeface="Poppins"/>
              </a:rPr>
              <a:t>Spring Web </a:t>
            </a:r>
            <a:endParaRPr b="0" i="0" sz="1400" u="none" cap="none" strike="noStrike">
              <a:solidFill>
                <a:srgbClr val="000000"/>
              </a:solidFill>
              <a:latin typeface="Arial"/>
              <a:ea typeface="Arial"/>
              <a:cs typeface="Arial"/>
              <a:sym typeface="Arial"/>
            </a:endParaRPr>
          </a:p>
        </p:txBody>
      </p:sp>
      <p:sp>
        <p:nvSpPr>
          <p:cNvPr id="165" name="Google Shape;165;p8"/>
          <p:cNvSpPr txBox="1"/>
          <p:nvPr/>
        </p:nvSpPr>
        <p:spPr>
          <a:xfrm>
            <a:off x="8318150" y="2161417"/>
            <a:ext cx="2933700" cy="8799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lang="en-US" sz="1100">
                <a:solidFill>
                  <a:srgbClr val="D9D9D9"/>
                </a:solidFill>
              </a:rPr>
              <a:t>Provee las herramientas necesarias para crear una arquitectura </a:t>
            </a:r>
            <a:r>
              <a:rPr b="1" lang="en-US" sz="1100">
                <a:solidFill>
                  <a:srgbClr val="D9D9D9"/>
                </a:solidFill>
              </a:rPr>
              <a:t>RESTful</a:t>
            </a:r>
            <a:r>
              <a:rPr lang="en-US" sz="1100">
                <a:solidFill>
                  <a:srgbClr val="D9D9D9"/>
                </a:solidFill>
              </a:rPr>
              <a:t>, permitiendo que nuestros microservicios expongan sus puntos de enlace (endpoints). </a:t>
            </a:r>
            <a:endParaRPr b="0" i="0" sz="1400" u="none" cap="none" strike="noStrike">
              <a:solidFill>
                <a:srgbClr val="D9D9D9"/>
              </a:solidFill>
              <a:latin typeface="Arial"/>
              <a:ea typeface="Arial"/>
              <a:cs typeface="Arial"/>
              <a:sym typeface="Arial"/>
            </a:endParaRPr>
          </a:p>
        </p:txBody>
      </p:sp>
      <p:sp>
        <p:nvSpPr>
          <p:cNvPr id="166" name="Google Shape;166;p8"/>
          <p:cNvSpPr txBox="1"/>
          <p:nvPr/>
        </p:nvSpPr>
        <p:spPr>
          <a:xfrm>
            <a:off x="762000" y="571500"/>
            <a:ext cx="11401500" cy="4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FFFFFF"/>
                </a:solidFill>
                <a:latin typeface="Poppins"/>
                <a:ea typeface="Poppins"/>
                <a:cs typeface="Poppins"/>
                <a:sym typeface="Poppins"/>
              </a:rPr>
              <a:t>Frameworks y </a:t>
            </a:r>
            <a:r>
              <a:rPr b="1" lang="en-US" sz="3150">
                <a:solidFill>
                  <a:srgbClr val="FFFFFF"/>
                </a:solidFill>
                <a:latin typeface="Poppins"/>
                <a:ea typeface="Poppins"/>
                <a:cs typeface="Poppins"/>
                <a:sym typeface="Poppins"/>
              </a:rPr>
              <a:t>Dependencias (SPRING BOOT)</a:t>
            </a:r>
            <a:endParaRPr b="0" i="0" sz="1400" u="none" cap="none" strike="noStrike">
              <a:solidFill>
                <a:srgbClr val="000000"/>
              </a:solidFill>
              <a:latin typeface="Arial"/>
              <a:ea typeface="Arial"/>
              <a:cs typeface="Arial"/>
              <a:sym typeface="Arial"/>
            </a:endParaRPr>
          </a:p>
        </p:txBody>
      </p:sp>
      <p:sp>
        <p:nvSpPr>
          <p:cNvPr id="167" name="Google Shape;167;p8"/>
          <p:cNvSpPr/>
          <p:nvPr/>
        </p:nvSpPr>
        <p:spPr>
          <a:xfrm>
            <a:off x="571500" y="571500"/>
            <a:ext cx="57150" cy="6000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168" name="Google Shape;168;p8"/>
          <p:cNvPicPr preferRelativeResize="0"/>
          <p:nvPr/>
        </p:nvPicPr>
        <p:blipFill rotWithShape="1">
          <a:blip r:embed="rId4">
            <a:alphaModFix/>
          </a:blip>
          <a:srcRect b="0" l="0" r="0" t="0"/>
          <a:stretch/>
        </p:blipFill>
        <p:spPr>
          <a:xfrm>
            <a:off x="451500" y="3674379"/>
            <a:ext cx="3524250" cy="1655266"/>
          </a:xfrm>
          <a:prstGeom prst="rect">
            <a:avLst/>
          </a:prstGeom>
          <a:noFill/>
          <a:ln>
            <a:noFill/>
          </a:ln>
        </p:spPr>
      </p:pic>
      <p:sp>
        <p:nvSpPr>
          <p:cNvPr id="169" name="Google Shape;169;p8"/>
          <p:cNvSpPr txBox="1"/>
          <p:nvPr/>
        </p:nvSpPr>
        <p:spPr>
          <a:xfrm>
            <a:off x="571500" y="3769950"/>
            <a:ext cx="3347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3B82F6"/>
                </a:solidFill>
                <a:latin typeface="Poppins"/>
                <a:ea typeface="Poppins"/>
                <a:cs typeface="Poppins"/>
                <a:sym typeface="Poppins"/>
              </a:rPr>
              <a:t>Spring Reactive Web (WebFlux) </a:t>
            </a:r>
            <a:endParaRPr b="0" i="0" sz="1400" u="none" cap="none" strike="noStrike">
              <a:solidFill>
                <a:srgbClr val="000000"/>
              </a:solidFill>
              <a:latin typeface="Arial"/>
              <a:ea typeface="Arial"/>
              <a:cs typeface="Arial"/>
              <a:sym typeface="Arial"/>
            </a:endParaRPr>
          </a:p>
        </p:txBody>
      </p:sp>
      <p:sp>
        <p:nvSpPr>
          <p:cNvPr id="170" name="Google Shape;170;p8"/>
          <p:cNvSpPr txBox="1"/>
          <p:nvPr/>
        </p:nvSpPr>
        <p:spPr>
          <a:xfrm>
            <a:off x="644850" y="4324042"/>
            <a:ext cx="2933700" cy="8799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lang="en-US" sz="1100">
                <a:solidFill>
                  <a:srgbClr val="D9D9D9"/>
                </a:solidFill>
              </a:rPr>
              <a:t>Para manejar la comunicación asíncrona y no bloqueante, ideal para el sistema de notificaciones y la escalabilidad de los servicios. </a:t>
            </a:r>
            <a:endParaRPr b="0" i="0" sz="1400" u="none" cap="none" strike="noStrike">
              <a:solidFill>
                <a:srgbClr val="D9D9D9"/>
              </a:solidFill>
              <a:latin typeface="Arial"/>
              <a:ea typeface="Arial"/>
              <a:cs typeface="Arial"/>
              <a:sym typeface="Arial"/>
            </a:endParaRPr>
          </a:p>
        </p:txBody>
      </p:sp>
      <p:pic>
        <p:nvPicPr>
          <p:cNvPr descr="image.png" id="171" name="Google Shape;171;p8"/>
          <p:cNvPicPr preferRelativeResize="0"/>
          <p:nvPr/>
        </p:nvPicPr>
        <p:blipFill rotWithShape="1">
          <a:blip r:embed="rId4">
            <a:alphaModFix/>
          </a:blip>
          <a:srcRect b="0" l="0" r="0" t="0"/>
          <a:stretch/>
        </p:blipFill>
        <p:spPr>
          <a:xfrm>
            <a:off x="4186225" y="3748642"/>
            <a:ext cx="3524250" cy="1655266"/>
          </a:xfrm>
          <a:prstGeom prst="rect">
            <a:avLst/>
          </a:prstGeom>
          <a:noFill/>
          <a:ln>
            <a:noFill/>
          </a:ln>
        </p:spPr>
      </p:pic>
      <p:pic>
        <p:nvPicPr>
          <p:cNvPr descr="image.png" id="172" name="Google Shape;172;p8"/>
          <p:cNvPicPr preferRelativeResize="0"/>
          <p:nvPr/>
        </p:nvPicPr>
        <p:blipFill rotWithShape="1">
          <a:blip r:embed="rId4">
            <a:alphaModFix/>
          </a:blip>
          <a:srcRect b="0" l="0" r="0" t="0"/>
          <a:stretch/>
        </p:blipFill>
        <p:spPr>
          <a:xfrm>
            <a:off x="8096225" y="3748642"/>
            <a:ext cx="3524250" cy="1655266"/>
          </a:xfrm>
          <a:prstGeom prst="rect">
            <a:avLst/>
          </a:prstGeom>
          <a:noFill/>
          <a:ln>
            <a:noFill/>
          </a:ln>
        </p:spPr>
      </p:pic>
      <p:sp>
        <p:nvSpPr>
          <p:cNvPr id="173" name="Google Shape;173;p8"/>
          <p:cNvSpPr txBox="1"/>
          <p:nvPr/>
        </p:nvSpPr>
        <p:spPr>
          <a:xfrm>
            <a:off x="4481500" y="3859129"/>
            <a:ext cx="308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3B82F6"/>
                </a:solidFill>
                <a:latin typeface="Poppins"/>
                <a:ea typeface="Poppins"/>
                <a:cs typeface="Poppins"/>
                <a:sym typeface="Poppins"/>
              </a:rPr>
              <a:t>Validation </a:t>
            </a:r>
            <a:endParaRPr b="0" i="0" sz="1400" u="none" cap="none" strike="noStrike">
              <a:solidFill>
                <a:srgbClr val="000000"/>
              </a:solidFill>
              <a:latin typeface="Arial"/>
              <a:ea typeface="Arial"/>
              <a:cs typeface="Arial"/>
              <a:sym typeface="Arial"/>
            </a:endParaRPr>
          </a:p>
        </p:txBody>
      </p:sp>
      <p:sp>
        <p:nvSpPr>
          <p:cNvPr id="174" name="Google Shape;174;p8"/>
          <p:cNvSpPr txBox="1"/>
          <p:nvPr/>
        </p:nvSpPr>
        <p:spPr>
          <a:xfrm>
            <a:off x="8244800" y="3825004"/>
            <a:ext cx="308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3B82F6"/>
                </a:solidFill>
                <a:latin typeface="Poppins"/>
                <a:ea typeface="Poppins"/>
                <a:cs typeface="Poppins"/>
                <a:sym typeface="Poppins"/>
              </a:rPr>
              <a:t>Lombok </a:t>
            </a:r>
            <a:endParaRPr b="0" i="0" sz="1400" u="none" cap="none" strike="noStrike">
              <a:solidFill>
                <a:srgbClr val="000000"/>
              </a:solidFill>
              <a:latin typeface="Arial"/>
              <a:ea typeface="Arial"/>
              <a:cs typeface="Arial"/>
              <a:sym typeface="Arial"/>
            </a:endParaRPr>
          </a:p>
        </p:txBody>
      </p:sp>
      <p:sp>
        <p:nvSpPr>
          <p:cNvPr id="175" name="Google Shape;175;p8"/>
          <p:cNvSpPr txBox="1"/>
          <p:nvPr/>
        </p:nvSpPr>
        <p:spPr>
          <a:xfrm>
            <a:off x="4333876" y="4234725"/>
            <a:ext cx="3080400" cy="8799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lang="en-US" sz="1100">
                <a:solidFill>
                  <a:srgbClr val="D9D9D9"/>
                </a:solidFill>
              </a:rPr>
              <a:t>Garantiza que los datos que ingresan al sistema (como fechas de citas o montos de cartera) cumplan con los formatos y restricciones definidos, evitando errores de integridad. </a:t>
            </a:r>
            <a:endParaRPr b="0" i="0" sz="1400" u="none" cap="none" strike="noStrike">
              <a:solidFill>
                <a:srgbClr val="D9D9D9"/>
              </a:solidFill>
              <a:latin typeface="Arial"/>
              <a:ea typeface="Arial"/>
              <a:cs typeface="Arial"/>
              <a:sym typeface="Arial"/>
            </a:endParaRPr>
          </a:p>
        </p:txBody>
      </p:sp>
      <p:sp>
        <p:nvSpPr>
          <p:cNvPr id="176" name="Google Shape;176;p8"/>
          <p:cNvSpPr txBox="1"/>
          <p:nvPr/>
        </p:nvSpPr>
        <p:spPr>
          <a:xfrm>
            <a:off x="8318300" y="4234725"/>
            <a:ext cx="3080400" cy="11169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lang="en-US" sz="1100">
                <a:solidFill>
                  <a:srgbClr val="D9D9D9"/>
                </a:solidFill>
              </a:rPr>
              <a:t>Una biblioteca de automatización que elimina el "código repetitivo" (boilerplate), encargándose de generar automáticamente getters, setters y constructores, manteniendo nuestro código limpio y legible. </a:t>
            </a:r>
            <a:endParaRPr b="0" i="0" sz="1400" u="none" cap="none" strike="noStrike">
              <a:solidFill>
                <a:srgbClr val="D9D9D9"/>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80" name="Shape 180"/>
        <p:cNvGrpSpPr/>
        <p:nvPr/>
      </p:nvGrpSpPr>
      <p:grpSpPr>
        <a:xfrm>
          <a:off x="0" y="0"/>
          <a:ext cx="0" cy="0"/>
          <a:chOff x="0" y="0"/>
          <a:chExt cx="0" cy="0"/>
        </a:xfrm>
      </p:grpSpPr>
      <p:pic>
        <p:nvPicPr>
          <p:cNvPr descr="image.png" id="181" name="Google Shape;181;g3e21046ead9_1_25"/>
          <p:cNvPicPr preferRelativeResize="0"/>
          <p:nvPr/>
        </p:nvPicPr>
        <p:blipFill rotWithShape="1">
          <a:blip r:embed="rId3">
            <a:alphaModFix/>
          </a:blip>
          <a:srcRect b="0" l="0" r="0" t="0"/>
          <a:stretch/>
        </p:blipFill>
        <p:spPr>
          <a:xfrm>
            <a:off x="0" y="-67500"/>
            <a:ext cx="12192000" cy="6858000"/>
          </a:xfrm>
          <a:prstGeom prst="rect">
            <a:avLst/>
          </a:prstGeom>
          <a:noFill/>
          <a:ln>
            <a:noFill/>
          </a:ln>
        </p:spPr>
      </p:pic>
      <p:pic>
        <p:nvPicPr>
          <p:cNvPr descr="image.png" id="182" name="Google Shape;182;g3e21046ead9_1_25"/>
          <p:cNvPicPr preferRelativeResize="0"/>
          <p:nvPr/>
        </p:nvPicPr>
        <p:blipFill rotWithShape="1">
          <a:blip r:embed="rId4">
            <a:alphaModFix/>
          </a:blip>
          <a:srcRect b="0" l="0" r="0" t="0"/>
          <a:stretch/>
        </p:blipFill>
        <p:spPr>
          <a:xfrm>
            <a:off x="628800" y="1699125"/>
            <a:ext cx="3672000" cy="2553275"/>
          </a:xfrm>
          <a:prstGeom prst="rect">
            <a:avLst/>
          </a:prstGeom>
          <a:noFill/>
          <a:ln>
            <a:noFill/>
          </a:ln>
        </p:spPr>
      </p:pic>
      <p:pic>
        <p:nvPicPr>
          <p:cNvPr descr="image.png" id="183" name="Google Shape;183;g3e21046ead9_1_25"/>
          <p:cNvPicPr preferRelativeResize="0"/>
          <p:nvPr/>
        </p:nvPicPr>
        <p:blipFill rotWithShape="1">
          <a:blip r:embed="rId4">
            <a:alphaModFix/>
          </a:blip>
          <a:srcRect b="0" l="0" r="0" t="0"/>
          <a:stretch/>
        </p:blipFill>
        <p:spPr>
          <a:xfrm>
            <a:off x="7128000" y="1699124"/>
            <a:ext cx="3672000" cy="2553275"/>
          </a:xfrm>
          <a:prstGeom prst="rect">
            <a:avLst/>
          </a:prstGeom>
          <a:noFill/>
          <a:ln>
            <a:noFill/>
          </a:ln>
        </p:spPr>
      </p:pic>
      <p:sp>
        <p:nvSpPr>
          <p:cNvPr id="184" name="Google Shape;184;g3e21046ead9_1_25"/>
          <p:cNvSpPr txBox="1"/>
          <p:nvPr/>
        </p:nvSpPr>
        <p:spPr>
          <a:xfrm>
            <a:off x="762000" y="1862554"/>
            <a:ext cx="308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3B82F6"/>
                </a:solidFill>
                <a:latin typeface="Poppins"/>
                <a:ea typeface="Poppins"/>
                <a:cs typeface="Poppins"/>
                <a:sym typeface="Poppins"/>
              </a:rPr>
              <a:t>XAMPP</a:t>
            </a:r>
            <a:endParaRPr b="0" i="0" sz="1400" u="none" cap="none" strike="noStrike">
              <a:solidFill>
                <a:srgbClr val="000000"/>
              </a:solidFill>
              <a:latin typeface="Arial"/>
              <a:ea typeface="Arial"/>
              <a:cs typeface="Arial"/>
              <a:sym typeface="Arial"/>
            </a:endParaRPr>
          </a:p>
        </p:txBody>
      </p:sp>
      <p:sp>
        <p:nvSpPr>
          <p:cNvPr id="185" name="Google Shape;185;g3e21046ead9_1_25"/>
          <p:cNvSpPr txBox="1"/>
          <p:nvPr/>
        </p:nvSpPr>
        <p:spPr>
          <a:xfrm>
            <a:off x="764850" y="2346950"/>
            <a:ext cx="3080400" cy="15906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lang="en-US" sz="1100">
                <a:solidFill>
                  <a:srgbClr val="CCCCCC"/>
                </a:solidFill>
              </a:rPr>
              <a:t>Utilizado como nuestro servidor local para la gestión de la base de datos. Gracias a su módulo </a:t>
            </a:r>
            <a:r>
              <a:rPr b="1" lang="en-US" sz="1100">
                <a:solidFill>
                  <a:srgbClr val="CCCCCC"/>
                </a:solidFill>
              </a:rPr>
              <a:t>MySQL/MariaDB</a:t>
            </a:r>
            <a:r>
              <a:rPr lang="en-US" sz="1100">
                <a:solidFill>
                  <a:srgbClr val="CCCCCC"/>
                </a:solidFill>
              </a:rPr>
              <a:t>, podemos levantar y administrar las tablas de nuestro MER de forma rápida, permitiendo que los microservicios realicen la persistencia de datos en un entorno controlado. </a:t>
            </a:r>
            <a:endParaRPr b="0" i="0" sz="1400" u="none" cap="none" strike="noStrike">
              <a:solidFill>
                <a:srgbClr val="CCCCCC"/>
              </a:solidFill>
              <a:latin typeface="Arial"/>
              <a:ea typeface="Arial"/>
              <a:cs typeface="Arial"/>
              <a:sym typeface="Arial"/>
            </a:endParaRPr>
          </a:p>
        </p:txBody>
      </p:sp>
      <p:sp>
        <p:nvSpPr>
          <p:cNvPr id="186" name="Google Shape;186;g3e21046ead9_1_25"/>
          <p:cNvSpPr txBox="1"/>
          <p:nvPr/>
        </p:nvSpPr>
        <p:spPr>
          <a:xfrm>
            <a:off x="7423800" y="1862554"/>
            <a:ext cx="308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3B82F6"/>
                </a:solidFill>
                <a:latin typeface="Poppins"/>
                <a:ea typeface="Poppins"/>
                <a:cs typeface="Poppins"/>
                <a:sym typeface="Poppins"/>
              </a:rPr>
              <a:t>Postman</a:t>
            </a:r>
            <a:endParaRPr b="0" i="0" sz="1400" u="none" cap="none" strike="noStrike">
              <a:solidFill>
                <a:srgbClr val="000000"/>
              </a:solidFill>
              <a:latin typeface="Arial"/>
              <a:ea typeface="Arial"/>
              <a:cs typeface="Arial"/>
              <a:sym typeface="Arial"/>
            </a:endParaRPr>
          </a:p>
        </p:txBody>
      </p:sp>
      <p:sp>
        <p:nvSpPr>
          <p:cNvPr id="187" name="Google Shape;187;g3e21046ead9_1_25"/>
          <p:cNvSpPr txBox="1"/>
          <p:nvPr/>
        </p:nvSpPr>
        <p:spPr>
          <a:xfrm>
            <a:off x="7423800" y="2268726"/>
            <a:ext cx="3080400" cy="18276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lang="en-US" sz="1100">
                <a:solidFill>
                  <a:srgbClr val="CCCCCC"/>
                </a:solidFill>
              </a:rPr>
              <a:t>Es nuestra herramienta principal para el testeo de </a:t>
            </a:r>
            <a:r>
              <a:rPr b="1" lang="en-US" sz="1100">
                <a:solidFill>
                  <a:srgbClr val="CCCCCC"/>
                </a:solidFill>
              </a:rPr>
              <a:t>API REST</a:t>
            </a:r>
            <a:r>
              <a:rPr lang="en-US" sz="1100">
                <a:solidFill>
                  <a:srgbClr val="CCCCCC"/>
                </a:solidFill>
              </a:rPr>
              <a:t>. Con ella, simulamos las peticiones (GET, POST, PUT, DELETE) que viajan entre los microservicios. Nos permite validar que las respuestas sean correctas, verificar los códigos de estado HTTP y asegurar que la lógica de negocio se ejecute según lo planeado antes de la integración final. </a:t>
            </a:r>
            <a:endParaRPr b="0" i="0" sz="1400" u="none" cap="none" strike="noStrike">
              <a:solidFill>
                <a:srgbClr val="CCCCCC"/>
              </a:solidFill>
              <a:latin typeface="Arial"/>
              <a:ea typeface="Arial"/>
              <a:cs typeface="Arial"/>
              <a:sym typeface="Arial"/>
            </a:endParaRPr>
          </a:p>
        </p:txBody>
      </p:sp>
      <p:sp>
        <p:nvSpPr>
          <p:cNvPr id="188" name="Google Shape;188;g3e21046ead9_1_25"/>
          <p:cNvSpPr txBox="1"/>
          <p:nvPr/>
        </p:nvSpPr>
        <p:spPr>
          <a:xfrm>
            <a:off x="762000" y="571500"/>
            <a:ext cx="11401500" cy="4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FFFFFF"/>
                </a:solidFill>
                <a:latin typeface="Poppins"/>
                <a:ea typeface="Poppins"/>
                <a:cs typeface="Poppins"/>
                <a:sym typeface="Poppins"/>
              </a:rPr>
              <a:t>Herramientas de desarrollo y entorn</a:t>
            </a:r>
            <a:r>
              <a:rPr b="1" lang="en-US" sz="3150">
                <a:solidFill>
                  <a:srgbClr val="FFFFFF"/>
                </a:solidFill>
                <a:latin typeface="Poppins"/>
                <a:ea typeface="Poppins"/>
                <a:cs typeface="Poppins"/>
                <a:sym typeface="Poppins"/>
              </a:rPr>
              <a:t>o</a:t>
            </a:r>
            <a:endParaRPr b="0" i="0" sz="1400" u="none" cap="none" strike="noStrike">
              <a:solidFill>
                <a:srgbClr val="000000"/>
              </a:solidFill>
              <a:latin typeface="Arial"/>
              <a:ea typeface="Arial"/>
              <a:cs typeface="Arial"/>
              <a:sym typeface="Arial"/>
            </a:endParaRPr>
          </a:p>
        </p:txBody>
      </p:sp>
      <p:sp>
        <p:nvSpPr>
          <p:cNvPr id="189" name="Google Shape;189;g3e21046ead9_1_25"/>
          <p:cNvSpPr/>
          <p:nvPr/>
        </p:nvSpPr>
        <p:spPr>
          <a:xfrm>
            <a:off x="571500" y="571500"/>
            <a:ext cx="57300" cy="6000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93" name="Shape 193"/>
        <p:cNvGrpSpPr/>
        <p:nvPr/>
      </p:nvGrpSpPr>
      <p:grpSpPr>
        <a:xfrm>
          <a:off x="0" y="0"/>
          <a:ext cx="0" cy="0"/>
          <a:chOff x="0" y="0"/>
          <a:chExt cx="0" cy="0"/>
        </a:xfrm>
      </p:grpSpPr>
      <p:pic>
        <p:nvPicPr>
          <p:cNvPr descr="image.png" id="194" name="Google Shape;194;p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5" name="Google Shape;195;p9"/>
          <p:cNvPicPr preferRelativeResize="0"/>
          <p:nvPr/>
        </p:nvPicPr>
        <p:blipFill rotWithShape="1">
          <a:blip r:embed="rId4">
            <a:alphaModFix/>
          </a:blip>
          <a:srcRect b="0" l="0" r="0" t="0"/>
          <a:stretch/>
        </p:blipFill>
        <p:spPr>
          <a:xfrm>
            <a:off x="571500" y="2624137"/>
            <a:ext cx="11049000" cy="2495550"/>
          </a:xfrm>
          <a:prstGeom prst="rect">
            <a:avLst/>
          </a:prstGeom>
          <a:noFill/>
          <a:ln>
            <a:noFill/>
          </a:ln>
        </p:spPr>
      </p:pic>
      <p:sp>
        <p:nvSpPr>
          <p:cNvPr id="196" name="Google Shape;196;p9"/>
          <p:cNvSpPr txBox="1"/>
          <p:nvPr/>
        </p:nvSpPr>
        <p:spPr>
          <a:xfrm>
            <a:off x="1333500" y="3319462"/>
            <a:ext cx="9525000" cy="11144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400"/>
              <a:buFont typeface="Arial"/>
              <a:buNone/>
            </a:pPr>
            <a:r>
              <a:rPr b="0" i="1" lang="en-US" sz="2400" u="none" cap="none" strike="noStrike">
                <a:solidFill>
                  <a:srgbClr val="F8FAFC"/>
                </a:solidFill>
                <a:latin typeface="Lato"/>
                <a:ea typeface="Lato"/>
                <a:cs typeface="Lato"/>
                <a:sym typeface="Lato"/>
              </a:rPr>
              <a:t> "BlackOut Manager no es solo un sistema de citas, es una herramienta de libertad creativa. Al automatizar la logística y las finanzas, permitimos que el artista se enfoque exclusivamente en su arte." </a:t>
            </a:r>
            <a:endParaRPr b="0" i="0" sz="1400" u="none" cap="none" strike="noStrike">
              <a:solidFill>
                <a:srgbClr val="000000"/>
              </a:solidFill>
              <a:latin typeface="Arial"/>
              <a:ea typeface="Arial"/>
              <a:cs typeface="Arial"/>
              <a:sym typeface="Arial"/>
            </a:endParaRPr>
          </a:p>
        </p:txBody>
      </p:sp>
      <p:sp>
        <p:nvSpPr>
          <p:cNvPr id="197" name="Google Shape;197;p9"/>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FFFFFF"/>
                </a:solidFill>
                <a:latin typeface="Poppins"/>
                <a:ea typeface="Poppins"/>
                <a:cs typeface="Poppins"/>
                <a:sym typeface="Poppins"/>
              </a:rPr>
              <a:t>Conclusión del Equipo</a:t>
            </a:r>
            <a:endParaRPr b="0" i="0" sz="1400" u="none" cap="none" strike="noStrike">
              <a:solidFill>
                <a:srgbClr val="000000"/>
              </a:solidFill>
              <a:latin typeface="Arial"/>
              <a:ea typeface="Arial"/>
              <a:cs typeface="Arial"/>
              <a:sym typeface="Arial"/>
            </a:endParaRPr>
          </a:p>
        </p:txBody>
      </p:sp>
      <p:sp>
        <p:nvSpPr>
          <p:cNvPr id="198" name="Google Shape;198;p9"/>
          <p:cNvSpPr/>
          <p:nvPr/>
        </p:nvSpPr>
        <p:spPr>
          <a:xfrm>
            <a:off x="571500" y="571500"/>
            <a:ext cx="57150" cy="6000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202" name="Shape 202"/>
        <p:cNvGrpSpPr/>
        <p:nvPr/>
      </p:nvGrpSpPr>
      <p:grpSpPr>
        <a:xfrm>
          <a:off x="0" y="0"/>
          <a:ext cx="0" cy="0"/>
          <a:chOff x="0" y="0"/>
          <a:chExt cx="0" cy="0"/>
        </a:xfrm>
      </p:grpSpPr>
      <p:pic>
        <p:nvPicPr>
          <p:cNvPr descr="image.png" id="203" name="Google Shape;203;p10"/>
          <p:cNvPicPr preferRelativeResize="0"/>
          <p:nvPr/>
        </p:nvPicPr>
        <p:blipFill rotWithShape="1">
          <a:blip r:embed="rId3">
            <a:alphaModFix/>
          </a:blip>
          <a:srcRect b="0" l="-210" r="210" t="0"/>
          <a:stretch/>
        </p:blipFill>
        <p:spPr>
          <a:xfrm>
            <a:off x="-12" y="0"/>
            <a:ext cx="12192000" cy="6858000"/>
          </a:xfrm>
          <a:prstGeom prst="rect">
            <a:avLst/>
          </a:prstGeom>
          <a:noFill/>
          <a:ln>
            <a:noFill/>
          </a:ln>
        </p:spPr>
      </p:pic>
      <p:sp>
        <p:nvSpPr>
          <p:cNvPr id="204" name="Google Shape;204;p10"/>
          <p:cNvSpPr txBox="1"/>
          <p:nvPr/>
        </p:nvSpPr>
        <p:spPr>
          <a:xfrm>
            <a:off x="3860720" y="2206972"/>
            <a:ext cx="4470558" cy="72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750"/>
              <a:buFont typeface="Arial"/>
              <a:buNone/>
            </a:pPr>
            <a:r>
              <a:rPr b="1" i="0" lang="en-US" sz="3750" u="none" cap="none" strike="noStrike">
                <a:solidFill>
                  <a:srgbClr val="FFFFFF"/>
                </a:solidFill>
                <a:latin typeface="Poppins"/>
                <a:ea typeface="Poppins"/>
                <a:cs typeface="Poppins"/>
                <a:sym typeface="Poppins"/>
              </a:rPr>
              <a:t>¿Preguntas?</a:t>
            </a:r>
            <a:endParaRPr b="0" i="0" sz="1400" u="none" cap="none" strike="noStrike">
              <a:solidFill>
                <a:srgbClr val="000000"/>
              </a:solidFill>
              <a:latin typeface="Arial"/>
              <a:ea typeface="Arial"/>
              <a:cs typeface="Arial"/>
              <a:sym typeface="Arial"/>
            </a:endParaRPr>
          </a:p>
        </p:txBody>
      </p:sp>
      <p:sp>
        <p:nvSpPr>
          <p:cNvPr id="205" name="Google Shape;205;p10"/>
          <p:cNvSpPr txBox="1"/>
          <p:nvPr/>
        </p:nvSpPr>
        <p:spPr>
          <a:xfrm>
            <a:off x="3967162" y="3026122"/>
            <a:ext cx="4257675" cy="3199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DEFF9A"/>
                </a:solidFill>
                <a:latin typeface="Lato"/>
                <a:ea typeface="Lato"/>
                <a:cs typeface="Lato"/>
                <a:sym typeface="Lato"/>
              </a:rPr>
              <a:t>Accede a nuestro desarrollo en tiempo real</a:t>
            </a:r>
            <a:endParaRPr b="0" i="0" sz="1400" u="none" cap="none" strike="noStrike">
              <a:solidFill>
                <a:srgbClr val="000000"/>
              </a:solidFill>
              <a:latin typeface="Arial"/>
              <a:ea typeface="Arial"/>
              <a:cs typeface="Arial"/>
              <a:sym typeface="Arial"/>
            </a:endParaRPr>
          </a:p>
        </p:txBody>
      </p:sp>
      <p:pic>
        <p:nvPicPr>
          <p:cNvPr descr="image.png" id="206" name="Google Shape;206;p10"/>
          <p:cNvPicPr preferRelativeResize="0"/>
          <p:nvPr/>
        </p:nvPicPr>
        <p:blipFill rotWithShape="1">
          <a:blip r:embed="rId4">
            <a:alphaModFix/>
          </a:blip>
          <a:srcRect b="0" l="0" r="0" t="0"/>
          <a:stretch/>
        </p:blipFill>
        <p:spPr>
          <a:xfrm>
            <a:off x="4295787" y="4157402"/>
            <a:ext cx="276225" cy="285750"/>
          </a:xfrm>
          <a:prstGeom prst="rect">
            <a:avLst/>
          </a:prstGeom>
          <a:noFill/>
          <a:ln>
            <a:noFill/>
          </a:ln>
        </p:spPr>
      </p:pic>
      <p:sp>
        <p:nvSpPr>
          <p:cNvPr id="207" name="Google Shape;207;p10"/>
          <p:cNvSpPr txBox="1"/>
          <p:nvPr/>
        </p:nvSpPr>
        <p:spPr>
          <a:xfrm>
            <a:off x="4597600" y="4095025"/>
            <a:ext cx="3309000" cy="4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lang="en-US" sz="1500">
                <a:solidFill>
                  <a:srgbClr val="F8FAFC"/>
                </a:solidFill>
              </a:rPr>
              <a:t>https://github.com/vicenteFrias/BlackOut-Manager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